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1033272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Georgia"/>
              </a:rPr>
              <a:t>AI for Human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931920"/>
            <a:ext cx="1033272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2200" b="0" i="1">
                <a:solidFill>
                  <a:srgbClr val="CADCFC"/>
                </a:solidFill>
                <a:latin typeface="Calibri"/>
              </a:rPr>
              <a:t>Hire fairer · understand your data · scale support safely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9AA6C0"/>
                </a:solidFill>
                <a:latin typeface="Calibri"/>
              </a:rPr>
              <a:t>DEVELOPERS 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400" b="1" i="0">
                <a:solidFill>
                  <a:srgbClr val="1F2A44"/>
                </a:solidFill>
                <a:latin typeface="Georgia"/>
              </a:rPr>
              <a:t>Where AI fits in HR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737360"/>
            <a:ext cx="3383280" cy="24688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103120"/>
            <a:ext cx="33832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Recruit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26080"/>
            <a:ext cx="33832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Draft posts, rubrics,</a:t>
            </a:r>
          </a:p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fair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737360"/>
            <a:ext cx="3383280" cy="246888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103120"/>
            <a:ext cx="33832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2600" b="1" i="0">
                <a:solidFill>
                  <a:srgbClr val="1F2A44"/>
                </a:solidFill>
                <a:latin typeface="Calibri"/>
              </a:rPr>
              <a:t>Understand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926080"/>
            <a:ext cx="33832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600" b="0" i="0">
                <a:solidFill>
                  <a:srgbClr val="1F2A44"/>
                </a:solidFill>
                <a:latin typeface="Calibri"/>
              </a:rPr>
              <a:t>Read files, forecast,</a:t>
            </a:r>
          </a:p>
          <a:p>
            <a:pPr algn="ctr"/>
            <a:r>
              <a:rPr sz="1600" b="0" i="0">
                <a:solidFill>
                  <a:srgbClr val="1F2A44"/>
                </a:solidFill>
                <a:latin typeface="Calibri"/>
              </a:rPr>
              <a:t>analyse surveys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737360"/>
            <a:ext cx="3383280" cy="246888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9640" y="2103120"/>
            <a:ext cx="33832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2926080"/>
            <a:ext cx="33832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Agents for</a:t>
            </a:r>
          </a:p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repeat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572000"/>
            <a:ext cx="106070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600" b="0" i="1">
                <a:solidFill>
                  <a:srgbClr val="5A5A5A"/>
                </a:solidFill>
                <a:latin typeface="Calibri"/>
              </a:rPr>
              <a:t>AI takes the routine work so you focus on people. Adoption in HR jumped from ~26% to ~43% in a year.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5A5A5A"/>
                </a:solidFill>
                <a:latin typeface="Calibri"/>
              </a:rPr>
              <a:t>DEVELOPERS INSTITUTE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400" b="1" i="0">
                <a:solidFill>
                  <a:srgbClr val="1F2A44"/>
                </a:solidFill>
                <a:latin typeface="Georgia"/>
              </a:rPr>
              <a:t>Faster and fairer hiring</a:t>
            </a:r>
          </a:p>
        </p:txBody>
      </p:sp>
      <p:pic>
        <p:nvPicPr>
          <p:cNvPr id="3" name="Picture 2" descr="before_after_hi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998" y="1325880"/>
            <a:ext cx="7085524" cy="429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400" b="0" i="1">
                <a:solidFill>
                  <a:srgbClr val="5A5A5A"/>
                </a:solidFill>
                <a:latin typeface="Calibri"/>
              </a:rPr>
              <a:t>AI clears routine work; your judgment keeps it fair.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5A5A5A"/>
                </a:solidFill>
                <a:latin typeface="Calibri"/>
              </a:rPr>
              <a:t>DEVELOPERS INSTITUTE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400" b="1" i="0">
                <a:solidFill>
                  <a:srgbClr val="1F2A44"/>
                </a:solidFill>
                <a:latin typeface="Georgia"/>
              </a:rPr>
              <a:t>From job post to fair interview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194560"/>
            <a:ext cx="3017520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3017520" cy="1554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1. Draft &amp; de-bias</a:t>
            </a:r>
          </a:p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the job post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194560"/>
            <a:ext cx="777240" cy="1554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800" b="1" i="0">
                <a:solidFill>
                  <a:srgbClr val="70AD47"/>
                </a:solidFill>
                <a:latin typeface="Calibri"/>
              </a:rPr>
              <a:t>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194560"/>
            <a:ext cx="3017520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4840" y="2194560"/>
            <a:ext cx="3017520" cy="1554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2. Build a</a:t>
            </a:r>
          </a:p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1–5 rubric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2194560"/>
            <a:ext cx="777240" cy="1554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800" b="1" i="0">
                <a:solidFill>
                  <a:srgbClr val="70AD47"/>
                </a:solidFill>
                <a:latin typeface="Calibri"/>
              </a:rPr>
              <a:t>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194560"/>
            <a:ext cx="3017520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194560"/>
            <a:ext cx="3017520" cy="1554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3. Behaviour-based</a:t>
            </a:r>
          </a:p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4206240"/>
            <a:ext cx="5577840" cy="82296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4206240"/>
            <a:ext cx="557784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AI flags · humans approve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5A5A5A"/>
                </a:solidFill>
                <a:latin typeface="Calibri"/>
              </a:rPr>
              <a:t>DEVELOPERS INSTITUTE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400" b="1" i="0">
                <a:solidFill>
                  <a:srgbClr val="1F2A44"/>
                </a:solidFill>
                <a:latin typeface="Georgia"/>
              </a:rPr>
              <a:t>Grounding: answer from YOUR documents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Give AI approved files (handbook, policies, surveys) so answers come from your data — not generic guesses.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468880"/>
            <a:ext cx="2743200" cy="8686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274320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2468880"/>
            <a:ext cx="73152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0" y="2468880"/>
            <a:ext cx="704088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Approved docs, spreadsheets, contracts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337560"/>
            <a:ext cx="2743200" cy="8686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337560"/>
            <a:ext cx="274320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AI role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3337560"/>
            <a:ext cx="7315200" cy="8686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3337560"/>
            <a:ext cx="704088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Summarise, compare, flag risk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206240"/>
            <a:ext cx="2743200" cy="8686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06240"/>
            <a:ext cx="274320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4206240"/>
            <a:ext cx="73152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0" y="4206240"/>
            <a:ext cx="704088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Grounded, checkable answers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5A5A5A"/>
                </a:solidFill>
                <a:latin typeface="Calibri"/>
              </a:rPr>
              <a:t>DEVELOPERS INSTITUTE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400" b="1" i="0">
                <a:solidFill>
                  <a:srgbClr val="1F2A44"/>
                </a:solidFill>
                <a:latin typeface="Georgia"/>
              </a:rPr>
              <a:t>The guardrails that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6400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AI learns from the past — bias can carry forward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Never upload PII to unapproved tools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GDPR / CCPA still apply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Anonymise while exploring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06640" y="1828800"/>
            <a:ext cx="4023360" cy="310896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0" y="2194560"/>
            <a:ext cx="402336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5400" b="1" i="0">
                <a:solidFill>
                  <a:srgbClr val="FFC000"/>
                </a:solidFill>
                <a:latin typeface="Georgia"/>
              </a:rPr>
              <a:t>Scrapped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3566160"/>
            <a:ext cx="402336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Amazon's biased résumé tool, after it penalised “women's”.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5A5A5A"/>
                </a:solidFill>
                <a:latin typeface="Calibri"/>
              </a:rPr>
              <a:t>DEVELOPERS INSTITUTE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400" b="1" i="0">
                <a:solidFill>
                  <a:srgbClr val="1F2A44"/>
                </a:solidFill>
                <a:latin typeface="Georgia"/>
              </a:rPr>
              <a:t>Prompt vs Agent</a:t>
            </a:r>
          </a:p>
        </p:txBody>
      </p:sp>
      <p:pic>
        <p:nvPicPr>
          <p:cNvPr id="3" name="Picture 2" descr="prompt_vs_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0957" y="1325880"/>
            <a:ext cx="7539606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400" b="0" i="1">
                <a:solidFill>
                  <a:srgbClr val="5A5A5A"/>
                </a:solidFill>
                <a:latin typeface="Calibri"/>
              </a:rPr>
              <a:t>Prompt = a conversation. Agent = a service desk. Use an agent when questions repeat and consistency matters.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5A5A5A"/>
                </a:solidFill>
                <a:latin typeface="Calibri"/>
              </a:rPr>
              <a:t>DEVELOPERS INSTITUTE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400" b="1" i="0">
                <a:solidFill>
                  <a:srgbClr val="1F2A44"/>
                </a:solidFill>
                <a:latin typeface="Georgia"/>
              </a:rPr>
              <a:t>Designing a safe HR agent</a:t>
            </a:r>
          </a:p>
        </p:txBody>
      </p:sp>
      <p:pic>
        <p:nvPicPr>
          <p:cNvPr id="3" name="Picture 2" descr="agent_building_bl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962" y="1325880"/>
            <a:ext cx="8439595" cy="429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400" b="0" i="1">
                <a:solidFill>
                  <a:srgbClr val="5A5A5A"/>
                </a:solidFill>
                <a:latin typeface="Calibri"/>
              </a:rPr>
              <a:t>In AI + HR, narrower is usually safer.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5A5A5A"/>
                </a:solidFill>
                <a:latin typeface="Calibri"/>
              </a:rPr>
              <a:t>DEVELOPERS INSTITUTE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400" b="1" i="0">
                <a:solidFill>
                  <a:srgbClr val="1F2A44"/>
                </a:solidFill>
                <a:latin typeface="Georgia"/>
              </a:rPr>
              <a:t>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737360"/>
            <a:ext cx="777240" cy="77724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77724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737360"/>
            <a:ext cx="941832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AI drafts and surfaces — humans check for bias and decide.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88920"/>
            <a:ext cx="777240" cy="77724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77724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788920"/>
            <a:ext cx="941832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Ground AI in approved documents; protect PII under GDPR/CCPA.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840480"/>
            <a:ext cx="777240" cy="77724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77724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840480"/>
            <a:ext cx="941832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Prompt for one-off work; agent for repeat, consistency-critical 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892040"/>
            <a:ext cx="777240" cy="77724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77724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892040"/>
            <a:ext cx="941832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Agents need maintenance — a monthly review catches drift.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5A5A5A"/>
                </a:solidFill>
                <a:latin typeface="Calibri"/>
              </a:rPr>
              <a:t>DEVELOPERS INSTITUTE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3272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Georgia"/>
              </a:rP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9AA6C0"/>
                </a:solidFill>
                <a:latin typeface="Calibri"/>
              </a:rPr>
              <a:t>DEVELOPERS INSTITUTE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