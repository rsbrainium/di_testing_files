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6350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Boosting Prospecting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A8A8A8"/>
                </a:solidFill>
                <a:latin typeface="Calibri"/>
              </a:rPr>
              <a:t>Coach the AI, research faster, personalize every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A8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libri"/>
              </a:rPr>
              <a:t>The problem AI actually solves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463040" cy="5080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•  Reps sell only ~30% of the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•  ~70% goes to non-selling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•  Research, CRM, admin, bad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•  AI absorbs the prep — not the seller</a:t>
            </a:r>
          </a:p>
        </p:txBody>
      </p:sp>
      <p:pic>
        <p:nvPicPr>
          <p:cNvPr id="9" name="Picture 8" descr="selling_tim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669280" cy="34175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A8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libri"/>
              </a:rPr>
              <a:t>Where AI helps in prospecting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463040" cy="5080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_sales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10515600" cy="35206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4297680"/>
            <a:ext cx="3383280" cy="635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389120"/>
            <a:ext cx="338328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00A8FF"/>
                </a:solidFill>
                <a:latin typeface="Calibri"/>
              </a:rPr>
              <a:t>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Gather signals fast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4297680"/>
            <a:ext cx="3383280" cy="635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4389120"/>
            <a:ext cx="338328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5262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00A8FF"/>
                </a:solidFill>
                <a:latin typeface="Calibri"/>
              </a:rPr>
              <a:t>Personalize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0749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Tailor the message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4297680"/>
            <a:ext cx="3383280" cy="6350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4389120"/>
            <a:ext cx="338328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5262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0800"/>
                </a:solidFill>
                <a:latin typeface="Calibri"/>
              </a:rPr>
              <a:t>Automate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50749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Reshape the busywork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A8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libri"/>
              </a:rPr>
              <a:t>Vague prompt vs. scaffolded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463040" cy="5080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mpt_scaffo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54480"/>
            <a:ext cx="9601200" cy="507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58521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A8A8A8"/>
                </a:solidFill>
                <a:latin typeface="Calibri"/>
              </a:rPr>
              <a:t>A scaffolded prompt replaces guesswork with context, instructions, and examples.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A8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libri"/>
              </a:rPr>
              <a:t>A reusable prompt recipe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463040" cy="5080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3189427" cy="566928"/>
          </a:xfrm>
          <a:prstGeom prst="rect">
            <a:avLst/>
          </a:prstGeom>
          <a:solidFill>
            <a:srgbClr val="000000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6707" y="1645920"/>
            <a:ext cx="6777532" cy="566928"/>
          </a:xfrm>
          <a:prstGeom prst="rect">
            <a:avLst/>
          </a:prstGeom>
          <a:solidFill>
            <a:srgbClr val="000000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What to include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12848"/>
            <a:ext cx="3189427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6707" y="2212848"/>
            <a:ext cx="67775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Who the AI is helping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779776"/>
            <a:ext cx="3189427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6707" y="2779776"/>
            <a:ext cx="6777532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Company, product, prospect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346704"/>
            <a:ext cx="3189427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Task + format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6707" y="3346704"/>
            <a:ext cx="67775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What you want, how long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913632"/>
            <a:ext cx="3189427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6707" y="3913632"/>
            <a:ext cx="6777532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A sample of good 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480560"/>
            <a:ext cx="3189427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Constraint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6707" y="4480560"/>
            <a:ext cx="67775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"Don't invent facts"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FF0800"/>
                </a:solidFill>
                <a:latin typeface="Calibri"/>
              </a:rPr>
              <a:t>The constraint line is the safety net — it keeps made-up claims out of your outreach.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A8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libri"/>
              </a:rPr>
              <a:t>From research to outreach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463040" cy="5080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search_to_outr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0515600" cy="36811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A8A8A8"/>
                </a:solidFill>
                <a:latin typeface="Calibri"/>
              </a:rPr>
              <a:t>You verify the facts at every step before they reach the buyer.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A8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libri"/>
              </a:rPr>
              <a:t>Trigger events: timing beats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463040" cy="5080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 i="0">
                <a:solidFill>
                  <a:srgbClr val="FF0800"/>
                </a:solidFill>
                <a:latin typeface="Calibri"/>
              </a:rPr>
              <a:t>15–25%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reply rate for trigger-based outreach</a:t>
            </a:r>
          </a:p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vs. ~1–3% for generic cold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37744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•  Funding, hires, expansion = urgency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9184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•  First credible seller to act usually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A8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libri"/>
              </a:rPr>
              <a:t>Tailor the message by persona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463040" cy="5080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2944368" cy="640080"/>
          </a:xfrm>
          <a:prstGeom prst="rect">
            <a:avLst/>
          </a:prstGeom>
          <a:solidFill>
            <a:srgbClr val="000000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Persona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7328" y="1737360"/>
            <a:ext cx="3995928" cy="640080"/>
          </a:xfrm>
          <a:prstGeom prst="rect">
            <a:avLst/>
          </a:prstGeom>
          <a:solidFill>
            <a:srgbClr val="000000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They care about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63256" y="1737360"/>
            <a:ext cx="3575304" cy="640080"/>
          </a:xfrm>
          <a:prstGeom prst="rect">
            <a:avLst/>
          </a:prstGeom>
          <a:solidFill>
            <a:srgbClr val="000000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Lead with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294436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CFO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7328" y="2377440"/>
            <a:ext cx="399592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Cost &amp;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63256" y="2377440"/>
            <a:ext cx="357530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Money saved, payback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17520"/>
            <a:ext cx="2944368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VP Sales / 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67328" y="3017520"/>
            <a:ext cx="3995928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Pipeline, fewer fire drills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63256" y="3017520"/>
            <a:ext cx="3575304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Speed,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57600"/>
            <a:ext cx="294436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CTO /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67328" y="3657600"/>
            <a:ext cx="399592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Security, integration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63256" y="3657600"/>
            <a:ext cx="357530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Fits the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A8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463040" cy="5080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Reps lose ~70% of the week to non-selling work — AI wins it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88920"/>
            <a:ext cx="502920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8892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Coach the AI: context + instructions + examples beats a vague ask.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502920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749039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Trigger events lift replies sharply; act fast.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09160"/>
            <a:ext cx="502920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70916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Personalize per persona, and verify every fact before you send.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A8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63500"/>
          </a:xfrm>
          <a:prstGeom prst="rect">
            <a:avLst/>
          </a:prstGeom>
          <a:solidFill>
            <a:srgbClr val="FF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A8"/>
                </a:solidFill>
                <a:latin typeface="Calibri"/>
              </a:rPr>
              <a:t>DEVELOPERS INSTITUTE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